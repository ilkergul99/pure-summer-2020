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75213" cy="42803763"/>
  <p:notesSz cx="6735763" cy="9866313"/>
  <p:defaultTextStyle>
    <a:defPPr>
      <a:defRPr lang="en-US"/>
    </a:defPPr>
    <a:lvl1pPr marL="0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49205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298410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47613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596817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746023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895229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044432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193637" algn="l" defTabSz="429841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6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orient="horz" pos="26214">
          <p15:clr>
            <a:srgbClr val="A4A3A4"/>
          </p15:clr>
        </p15:guide>
        <p15:guide id="4" orient="horz">
          <p15:clr>
            <a:srgbClr val="A4A3A4"/>
          </p15:clr>
        </p15:guide>
        <p15:guide id="5" pos="401">
          <p15:clr>
            <a:srgbClr val="A4A3A4"/>
          </p15:clr>
        </p15:guide>
        <p15:guide id="6" pos="186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08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KOTOULAS" initials="AK" lastIdx="2" clrIdx="0"/>
  <p:cmAuthor id="1" name="A.KOTOULAS" initials="HELP" lastIdx="1" clrIdx="1"/>
  <p:cmAuthor id="2" name="A.KOTOULAS" initials="HELP - " lastIdx="1" clrIdx="2"/>
  <p:cmAuthor id="3" name="PosterPresentations.com - 510.649.3001" initials="HELP - 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5FA"/>
    <a:srgbClr val="CDD2DE"/>
    <a:srgbClr val="E3E9E5"/>
    <a:srgbClr val="EAEA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8" autoAdjust="0"/>
    <p:restoredTop sz="94694" autoAdjust="0"/>
  </p:normalViewPr>
  <p:slideViewPr>
    <p:cSldViewPr snapToGrid="0" snapToObjects="1" showGuides="1">
      <p:cViewPr>
        <p:scale>
          <a:sx n="20" d="100"/>
          <a:sy n="20" d="100"/>
        </p:scale>
        <p:origin x="1608" y="30"/>
      </p:cViewPr>
      <p:guideLst>
        <p:guide orient="horz" pos="4316"/>
        <p:guide orient="horz" pos="375"/>
        <p:guide orient="horz" pos="26214"/>
        <p:guide orient="horz"/>
        <p:guide pos="401"/>
        <p:guide pos="186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52" d="100"/>
          <a:sy n="52" d="100"/>
        </p:scale>
        <p:origin x="-2394" y="-90"/>
      </p:cViewPr>
      <p:guideLst>
        <p:guide orient="horz" pos="2880"/>
        <p:guide pos="2160"/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C5BC-9A70-462C-B28D-9600239EAC64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131B7-05CA-4AEE-9267-6D0ED4DC8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13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2317-6751-4CD4-9995-8782DD78E936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0575" y="739775"/>
            <a:ext cx="26146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1A87D-CAF7-4BDC-A0D3-C0DBEDE81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100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49205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298410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447613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596817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746023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2895229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044432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193637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1A87D-CAF7-4BDC-A0D3-C0DBEDE816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15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56852" y="15361263"/>
            <a:ext cx="12978580" cy="10190177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r>
              <a:rPr lang="tr-TR" dirty="0"/>
              <a:t> </a:t>
            </a:r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36213" y="6542236"/>
            <a:ext cx="14287866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ABSTRACT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36211" y="30451538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PROJECT DETAILS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353328" y="6542236"/>
            <a:ext cx="14287682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PROJECT DETAILS II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97" hasCustomPrompt="1"/>
          </p:nvPr>
        </p:nvSpPr>
        <p:spPr>
          <a:xfrm>
            <a:off x="553460" y="132001"/>
            <a:ext cx="21270912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Project Title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98" hasCustomPrompt="1"/>
          </p:nvPr>
        </p:nvSpPr>
        <p:spPr>
          <a:xfrm>
            <a:off x="3287486" y="3937929"/>
            <a:ext cx="4953000" cy="166747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tr-TR" dirty="0"/>
              <a:t>Name </a:t>
            </a:r>
            <a:r>
              <a:rPr lang="tr-TR" dirty="0" err="1"/>
              <a:t>Surname</a:t>
            </a:r>
            <a:endParaRPr lang="tr-TR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2" hasCustomPrompt="1"/>
          </p:nvPr>
        </p:nvSpPr>
        <p:spPr>
          <a:xfrm>
            <a:off x="1356852" y="8178800"/>
            <a:ext cx="12978580" cy="6835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/>
            </a:lvl1pPr>
          </a:lstStyle>
          <a:p>
            <a:r>
              <a:rPr lang="tr-TR" dirty="0"/>
              <a:t>Photo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03" hasCustomPrompt="1"/>
          </p:nvPr>
        </p:nvSpPr>
        <p:spPr>
          <a:xfrm>
            <a:off x="16129819" y="15361263"/>
            <a:ext cx="12978580" cy="10190177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104" hasCustomPrompt="1"/>
          </p:nvPr>
        </p:nvSpPr>
        <p:spPr>
          <a:xfrm>
            <a:off x="16129819" y="8178800"/>
            <a:ext cx="12978580" cy="6835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/>
            </a:lvl1pPr>
          </a:lstStyle>
          <a:p>
            <a:r>
              <a:rPr lang="tr-TR" dirty="0"/>
              <a:t>Photo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05" hasCustomPrompt="1"/>
          </p:nvPr>
        </p:nvSpPr>
        <p:spPr>
          <a:xfrm>
            <a:off x="1356852" y="37129924"/>
            <a:ext cx="12978580" cy="3985402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107" hasCustomPrompt="1"/>
          </p:nvPr>
        </p:nvSpPr>
        <p:spPr>
          <a:xfrm>
            <a:off x="617538" y="25803020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OBJECTIVES</a:t>
            </a:r>
            <a:r>
              <a:rPr lang="tr-TR" dirty="0"/>
              <a:t>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108" hasCustomPrompt="1"/>
          </p:nvPr>
        </p:nvSpPr>
        <p:spPr>
          <a:xfrm>
            <a:off x="1338179" y="27074031"/>
            <a:ext cx="12978580" cy="2434208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109" hasCustomPrompt="1"/>
          </p:nvPr>
        </p:nvSpPr>
        <p:spPr>
          <a:xfrm>
            <a:off x="1356852" y="31490620"/>
            <a:ext cx="12978580" cy="524549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/>
            </a:lvl1pPr>
          </a:lstStyle>
          <a:p>
            <a:r>
              <a:rPr lang="tr-TR" dirty="0"/>
              <a:t>Photo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110" hasCustomPrompt="1"/>
          </p:nvPr>
        </p:nvSpPr>
        <p:spPr>
          <a:xfrm>
            <a:off x="15353328" y="36729791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REFERENCES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5" name="Text Placeholder 3"/>
          <p:cNvSpPr>
            <a:spLocks noGrp="1"/>
          </p:cNvSpPr>
          <p:nvPr>
            <p:ph type="body" sz="quarter" idx="111" hasCustomPrompt="1"/>
          </p:nvPr>
        </p:nvSpPr>
        <p:spPr>
          <a:xfrm>
            <a:off x="16073969" y="38000802"/>
            <a:ext cx="12978580" cy="2951272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112" hasCustomPrompt="1"/>
          </p:nvPr>
        </p:nvSpPr>
        <p:spPr>
          <a:xfrm>
            <a:off x="15409178" y="25803020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CONCLUSIONS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7" name="Text Placeholder 3"/>
          <p:cNvSpPr>
            <a:spLocks noGrp="1"/>
          </p:cNvSpPr>
          <p:nvPr>
            <p:ph type="body" sz="quarter" idx="113" hasCustomPrompt="1"/>
          </p:nvPr>
        </p:nvSpPr>
        <p:spPr>
          <a:xfrm>
            <a:off x="16129819" y="27074031"/>
            <a:ext cx="12978580" cy="9156048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D98A4C8-F4EC-4A54-B51B-367FBC140DA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4075228" y="3880883"/>
            <a:ext cx="5314950" cy="170962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tr-TR" dirty="0"/>
              <a:t>Name </a:t>
            </a:r>
            <a:r>
              <a:rPr lang="tr-TR" dirty="0" err="1"/>
              <a:t>Surname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56852" y="15361263"/>
            <a:ext cx="12978580" cy="10190177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r>
              <a:rPr lang="tr-TR" dirty="0"/>
              <a:t> </a:t>
            </a:r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36213" y="6542236"/>
            <a:ext cx="14287866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ABSTRACT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36211" y="30451538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PROJECT DETAILS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353328" y="6542236"/>
            <a:ext cx="14287682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PROJECT DETAILS II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97" hasCustomPrompt="1"/>
          </p:nvPr>
        </p:nvSpPr>
        <p:spPr>
          <a:xfrm>
            <a:off x="636588" y="228600"/>
            <a:ext cx="21270912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tr-TR" dirty="0"/>
              <a:t>Project Name &amp; </a:t>
            </a:r>
            <a:r>
              <a:rPr lang="tr-TR" dirty="0" err="1"/>
              <a:t>Description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98" hasCustomPrompt="1"/>
          </p:nvPr>
        </p:nvSpPr>
        <p:spPr>
          <a:xfrm>
            <a:off x="712788" y="3533180"/>
            <a:ext cx="5764212" cy="166747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tr-TR" dirty="0"/>
              <a:t>Name </a:t>
            </a:r>
            <a:r>
              <a:rPr lang="tr-TR" dirty="0" err="1"/>
              <a:t>Surname</a:t>
            </a:r>
            <a:endParaRPr lang="tr-TR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99" hasCustomPrompt="1"/>
          </p:nvPr>
        </p:nvSpPr>
        <p:spPr>
          <a:xfrm>
            <a:off x="6477000" y="3533180"/>
            <a:ext cx="5764212" cy="17797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tr-TR" dirty="0"/>
              <a:t>Name </a:t>
            </a:r>
            <a:r>
              <a:rPr lang="tr-TR" dirty="0" err="1"/>
              <a:t>Surname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17538" y="2609850"/>
            <a:ext cx="5764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5400" dirty="0" err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Student</a:t>
            </a:r>
            <a:r>
              <a:rPr lang="tr-TR" sz="5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(s)</a:t>
            </a:r>
            <a:endParaRPr lang="en-US" sz="54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6400800" y="2609850"/>
            <a:ext cx="5764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5400" dirty="0" err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Faculty</a:t>
            </a:r>
            <a:r>
              <a:rPr lang="tr-TR" sz="5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tr-TR" sz="5400" dirty="0" err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Member</a:t>
            </a:r>
            <a:r>
              <a:rPr lang="tr-TR" sz="5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(</a:t>
            </a:r>
            <a:r>
              <a:rPr lang="tr-TR" sz="5400" kern="1200" dirty="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rPr>
              <a:t>s)</a:t>
            </a:r>
            <a:endParaRPr lang="en-US" sz="54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2" hasCustomPrompt="1"/>
          </p:nvPr>
        </p:nvSpPr>
        <p:spPr>
          <a:xfrm>
            <a:off x="1356852" y="8178800"/>
            <a:ext cx="12978580" cy="6835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/>
            </a:lvl1pPr>
          </a:lstStyle>
          <a:p>
            <a:r>
              <a:rPr lang="tr-TR" dirty="0"/>
              <a:t>Photo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03" hasCustomPrompt="1"/>
          </p:nvPr>
        </p:nvSpPr>
        <p:spPr>
          <a:xfrm>
            <a:off x="16129819" y="15361263"/>
            <a:ext cx="12978580" cy="10190177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104" hasCustomPrompt="1"/>
          </p:nvPr>
        </p:nvSpPr>
        <p:spPr>
          <a:xfrm>
            <a:off x="16129819" y="8178800"/>
            <a:ext cx="12978580" cy="6835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/>
            </a:lvl1pPr>
          </a:lstStyle>
          <a:p>
            <a:r>
              <a:rPr lang="tr-TR" dirty="0"/>
              <a:t>Photo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05" hasCustomPrompt="1"/>
          </p:nvPr>
        </p:nvSpPr>
        <p:spPr>
          <a:xfrm>
            <a:off x="1356852" y="37129924"/>
            <a:ext cx="12978580" cy="3985402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107" hasCustomPrompt="1"/>
          </p:nvPr>
        </p:nvSpPr>
        <p:spPr>
          <a:xfrm>
            <a:off x="617538" y="25803020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OBJECTIVES</a:t>
            </a:r>
            <a:r>
              <a:rPr lang="tr-TR" dirty="0"/>
              <a:t>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108" hasCustomPrompt="1"/>
          </p:nvPr>
        </p:nvSpPr>
        <p:spPr>
          <a:xfrm>
            <a:off x="1338179" y="27074031"/>
            <a:ext cx="12978580" cy="2434208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109" hasCustomPrompt="1"/>
          </p:nvPr>
        </p:nvSpPr>
        <p:spPr>
          <a:xfrm>
            <a:off x="1356852" y="31490620"/>
            <a:ext cx="12978580" cy="524549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/>
            </a:lvl1pPr>
          </a:lstStyle>
          <a:p>
            <a:r>
              <a:rPr lang="tr-TR" dirty="0"/>
              <a:t>Photo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110" hasCustomPrompt="1"/>
          </p:nvPr>
        </p:nvSpPr>
        <p:spPr>
          <a:xfrm>
            <a:off x="15353328" y="36729791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REFERENCES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5" name="Text Placeholder 3"/>
          <p:cNvSpPr>
            <a:spLocks noGrp="1"/>
          </p:cNvSpPr>
          <p:nvPr>
            <p:ph type="body" sz="quarter" idx="111" hasCustomPrompt="1"/>
          </p:nvPr>
        </p:nvSpPr>
        <p:spPr>
          <a:xfrm>
            <a:off x="16073969" y="38000802"/>
            <a:ext cx="12978580" cy="2951272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112" hasCustomPrompt="1"/>
          </p:nvPr>
        </p:nvSpPr>
        <p:spPr>
          <a:xfrm>
            <a:off x="15409178" y="25803020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tr-TR" dirty="0"/>
              <a:t>CONCLUSIONS (</a:t>
            </a:r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7" name="Text Placeholder 3"/>
          <p:cNvSpPr>
            <a:spLocks noGrp="1"/>
          </p:cNvSpPr>
          <p:nvPr>
            <p:ph type="body" sz="quarter" idx="113" hasCustomPrompt="1"/>
          </p:nvPr>
        </p:nvSpPr>
        <p:spPr>
          <a:xfrm>
            <a:off x="16129819" y="27074031"/>
            <a:ext cx="12978580" cy="9156048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tr-TR" dirty="0" err="1"/>
              <a:t>Text</a:t>
            </a:r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tr-T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60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100000">
              <a:schemeClr val="accent6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BFB886A8-FCD7-41BA-AD1B-CA6862FC64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6336" y="5517920"/>
            <a:ext cx="2082540" cy="3686720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013" y="0"/>
            <a:ext cx="30345226" cy="58389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9" r:id="rId2"/>
  </p:sldLayoutIdLst>
  <p:txStyles>
    <p:titleStyle>
      <a:lvl1pPr algn="ctr" defTabSz="4298410" rtl="0" eaLnBrk="1" latinLnBrk="0" hangingPunct="1">
        <a:spcBef>
          <a:spcPct val="0"/>
        </a:spcBef>
        <a:buNone/>
        <a:defRPr sz="85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11903" indent="-1611903" algn="l" defTabSz="429841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492457" indent="-1343252" algn="l" defTabSz="4298410" rtl="0" eaLnBrk="1" latinLnBrk="0" hangingPunct="1">
        <a:spcBef>
          <a:spcPct val="20000"/>
        </a:spcBef>
        <a:buFont typeface="Arial" pitchFamily="34" charset="0"/>
        <a:buChar char="–"/>
        <a:defRPr sz="13300" kern="1200">
          <a:solidFill>
            <a:schemeClr val="tx1"/>
          </a:solidFill>
          <a:latin typeface="+mn-lt"/>
          <a:ea typeface="+mn-ea"/>
          <a:cs typeface="+mn-cs"/>
        </a:defRPr>
      </a:lvl2pPr>
      <a:lvl3pPr marL="5373012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22217" indent="-1074603" algn="l" defTabSz="429841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671420" indent="-1074603" algn="l" defTabSz="429841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20625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3969828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19034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268238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49205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298410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47613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596817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6023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895229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044432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193637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Yer Tutucusu 8">
            <a:extLst>
              <a:ext uri="{FF2B5EF4-FFF2-40B4-BE49-F238E27FC236}">
                <a16:creationId xmlns:a16="http://schemas.microsoft.com/office/drawing/2014/main" id="{B1B411C6-D74F-814D-B92E-D94D984B5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91524" y="7104910"/>
            <a:ext cx="12978580" cy="636759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/>
              <a:t>This research focuses on which method would provide more successful book recommendations to the people.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/>
              <a:t> Initially, research examines cosine similarity, KNN, matrix factorization(MF) methods’ background and implementation and explains other methods with those. 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/>
              <a:t>Afterwards, these methods are compared by their error rate.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/>
              <a:t> Finally, successful methods of comparison are represented and further developments about that methods and possible future work is explained.</a:t>
            </a:r>
          </a:p>
          <a:p>
            <a:endParaRPr lang="tr-TR" dirty="0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46FD095-D295-054E-A613-9356DAF0AA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213" y="6207378"/>
            <a:ext cx="14287866" cy="800265"/>
          </a:xfrm>
        </p:spPr>
        <p:txBody>
          <a:bodyPr/>
          <a:lstStyle/>
          <a:p>
            <a:r>
              <a:rPr lang="en-US" sz="40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tr-TR" sz="400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Metin Yer Tutucusu 10">
            <a:extLst>
              <a:ext uri="{FF2B5EF4-FFF2-40B4-BE49-F238E27FC236}">
                <a16:creationId xmlns:a16="http://schemas.microsoft.com/office/drawing/2014/main" id="{675E356B-76C0-CA4C-A789-C5AE46A044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3951" y="25638138"/>
            <a:ext cx="14291358" cy="800265"/>
          </a:xfrm>
        </p:spPr>
        <p:txBody>
          <a:bodyPr/>
          <a:lstStyle/>
          <a:p>
            <a:r>
              <a:rPr lang="en-US" sz="40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</a:t>
            </a:r>
            <a:endParaRPr lang="tr-TR" sz="400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Metin Yer Tutucusu 21">
            <a:extLst>
              <a:ext uri="{FF2B5EF4-FFF2-40B4-BE49-F238E27FC236}">
                <a16:creationId xmlns:a16="http://schemas.microsoft.com/office/drawing/2014/main" id="{305CFFC6-69CF-3349-9977-9AC25AE7E5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353328" y="6212870"/>
            <a:ext cx="14287682" cy="800265"/>
          </a:xfrm>
        </p:spPr>
        <p:txBody>
          <a:bodyPr/>
          <a:lstStyle/>
          <a:p>
            <a:r>
              <a:rPr lang="en-US" sz="40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and CLUSTERING</a:t>
            </a:r>
            <a:endParaRPr lang="tr-TR" sz="400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Metin Yer Tutucusu 22">
            <a:extLst>
              <a:ext uri="{FF2B5EF4-FFF2-40B4-BE49-F238E27FC236}">
                <a16:creationId xmlns:a16="http://schemas.microsoft.com/office/drawing/2014/main" id="{52900141-539A-0348-AD04-BF61B45F4845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r>
              <a:rPr lang="en-US" dirty="0"/>
              <a:t>The Application of Deep learning algorithms to Computational Problems - Group 1</a:t>
            </a:r>
            <a:endParaRPr lang="tr-TR" dirty="0"/>
          </a:p>
        </p:txBody>
      </p:sp>
      <p:sp>
        <p:nvSpPr>
          <p:cNvPr id="24" name="Metin Yer Tutucusu 23">
            <a:extLst>
              <a:ext uri="{FF2B5EF4-FFF2-40B4-BE49-F238E27FC236}">
                <a16:creationId xmlns:a16="http://schemas.microsoft.com/office/drawing/2014/main" id="{E3BD01BD-0624-C640-92C6-B7F1484BBC7E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3287485" y="3753469"/>
            <a:ext cx="7540936" cy="1667470"/>
          </a:xfrm>
        </p:spPr>
        <p:txBody>
          <a:bodyPr/>
          <a:lstStyle/>
          <a:p>
            <a:r>
              <a:rPr lang="en-US" dirty="0"/>
              <a:t>İlker GÜL  /  </a:t>
            </a:r>
            <a:r>
              <a:rPr lang="en-US" dirty="0" err="1"/>
              <a:t>Sabancı</a:t>
            </a:r>
            <a:r>
              <a:rPr lang="en-US" dirty="0"/>
              <a:t> University</a:t>
            </a:r>
          </a:p>
          <a:p>
            <a:r>
              <a:rPr lang="en-US" dirty="0" err="1"/>
              <a:t>Metehan</a:t>
            </a:r>
            <a:r>
              <a:rPr lang="en-US" dirty="0"/>
              <a:t> KOÇ  /  </a:t>
            </a:r>
            <a:r>
              <a:rPr lang="en-US" dirty="0" err="1"/>
              <a:t>Sabancı</a:t>
            </a:r>
            <a:r>
              <a:rPr lang="en-US" dirty="0"/>
              <a:t> University</a:t>
            </a:r>
          </a:p>
          <a:p>
            <a:r>
              <a:rPr lang="en-US" dirty="0"/>
              <a:t>Tahir TURGUT  /  </a:t>
            </a:r>
            <a:r>
              <a:rPr lang="en-US" dirty="0" err="1"/>
              <a:t>Sabancı</a:t>
            </a:r>
            <a:r>
              <a:rPr lang="en-US" dirty="0"/>
              <a:t> University</a:t>
            </a:r>
            <a:endParaRPr lang="tr-TR" dirty="0"/>
          </a:p>
        </p:txBody>
      </p:sp>
      <p:sp>
        <p:nvSpPr>
          <p:cNvPr id="26" name="Metin Yer Tutucusu 25">
            <a:extLst>
              <a:ext uri="{FF2B5EF4-FFF2-40B4-BE49-F238E27FC236}">
                <a16:creationId xmlns:a16="http://schemas.microsoft.com/office/drawing/2014/main" id="{83E4600B-597E-0846-B642-55D053DEA633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>
          <a:xfrm>
            <a:off x="16129819" y="7228064"/>
            <a:ext cx="12978580" cy="712113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dirty="0"/>
              <a:t>Collaborative filtering methods use the ratings in the form of a matrix called the rating matrix. </a:t>
            </a:r>
          </a:p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dirty="0"/>
              <a:t>The K-nearest Neighbors (KNN) algorithm is a simple, easy-to-implement algorithm to solve both classification and regression problems (Harrison, 2019).</a:t>
            </a:r>
          </a:p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dirty="0"/>
              <a:t> Matrix factorization (MF) is found to be effective in reducing the sparsity problem. </a:t>
            </a:r>
          </a:p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dirty="0"/>
              <a:t>Clustering is a common procedure that is done while having an exploratory data analysis. 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28" name="Metin Yer Tutucusu 27">
            <a:extLst>
              <a:ext uri="{FF2B5EF4-FFF2-40B4-BE49-F238E27FC236}">
                <a16:creationId xmlns:a16="http://schemas.microsoft.com/office/drawing/2014/main" id="{D6286CB6-4901-A64E-8F77-F065FAA15846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>
          <a:xfrm>
            <a:off x="1273927" y="26361750"/>
            <a:ext cx="12978580" cy="29599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There are several methods to build content-based filtering systems. In this study, cosine similarity is used on vector space of book’s title and tags which is created by TF-IDF and Count vectorizer to find similarities between items and recommend them with cosine similarity accordingly.</a:t>
            </a:r>
            <a:endParaRPr lang="tr-TR" dirty="0"/>
          </a:p>
        </p:txBody>
      </p:sp>
      <p:sp>
        <p:nvSpPr>
          <p:cNvPr id="29" name="Metin Yer Tutucusu 28">
            <a:extLst>
              <a:ext uri="{FF2B5EF4-FFF2-40B4-BE49-F238E27FC236}">
                <a16:creationId xmlns:a16="http://schemas.microsoft.com/office/drawing/2014/main" id="{FDD30CB8-A7F2-CD4F-8B64-3462D2991D0D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617538" y="21469493"/>
            <a:ext cx="14291358" cy="800265"/>
          </a:xfrm>
        </p:spPr>
        <p:txBody>
          <a:bodyPr/>
          <a:lstStyle/>
          <a:p>
            <a:r>
              <a:rPr lang="en-US" sz="40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tr-TR" sz="400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Metin Yer Tutucusu 31">
            <a:extLst>
              <a:ext uri="{FF2B5EF4-FFF2-40B4-BE49-F238E27FC236}">
                <a16:creationId xmlns:a16="http://schemas.microsoft.com/office/drawing/2014/main" id="{4924DA64-979D-BD4E-B7D1-21BB2C2AC32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15349652" y="36831319"/>
            <a:ext cx="14291358" cy="800265"/>
          </a:xfrm>
        </p:spPr>
        <p:txBody>
          <a:bodyPr/>
          <a:lstStyle/>
          <a:p>
            <a:r>
              <a:rPr lang="en-US" sz="40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tr-TR" sz="400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Metin Yer Tutucusu 32">
            <a:extLst>
              <a:ext uri="{FF2B5EF4-FFF2-40B4-BE49-F238E27FC236}">
                <a16:creationId xmlns:a16="http://schemas.microsoft.com/office/drawing/2014/main" id="{B6B32035-7B1A-2942-8D7D-02D43E10D12E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16065567" y="37460615"/>
            <a:ext cx="12978580" cy="433883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/>
              <a:t>Edpresso</a:t>
            </a:r>
            <a:r>
              <a:rPr lang="en-US" dirty="0"/>
              <a:t> Editor. (2020, February 28). </a:t>
            </a:r>
            <a:r>
              <a:rPr lang="en-US" i="1" dirty="0" err="1"/>
              <a:t>CountVectorizer</a:t>
            </a:r>
            <a:r>
              <a:rPr lang="en-US" i="1" dirty="0"/>
              <a:t> in Python</a:t>
            </a:r>
            <a:r>
              <a:rPr lang="en-US" dirty="0"/>
              <a:t>. Educative: Interactive Courses for Software Developers. https://www.educative.io/edpresso/countvectorizer-in-python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Harrison, O. (2019, July 14). </a:t>
            </a:r>
            <a:r>
              <a:rPr lang="en-US" i="1" dirty="0"/>
              <a:t>Machine Learning Basics with the K-Nearest Neighbors Algorithm</a:t>
            </a:r>
            <a:r>
              <a:rPr lang="en-US" dirty="0"/>
              <a:t>. Medium. https://towardsdatascience.com/machine-learning-basics-with-the-k-nearest-neighbors-algorithm-6a6e71d01761</a:t>
            </a:r>
            <a:endParaRPr lang="tr-TR" dirty="0"/>
          </a:p>
        </p:txBody>
      </p:sp>
      <p:sp>
        <p:nvSpPr>
          <p:cNvPr id="34" name="Metin Yer Tutucusu 33">
            <a:extLst>
              <a:ext uri="{FF2B5EF4-FFF2-40B4-BE49-F238E27FC236}">
                <a16:creationId xmlns:a16="http://schemas.microsoft.com/office/drawing/2014/main" id="{24C7EFA9-9ADA-B844-B6A4-D869FB1A546C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15409178" y="24614122"/>
            <a:ext cx="14291358" cy="800265"/>
          </a:xfrm>
        </p:spPr>
        <p:txBody>
          <a:bodyPr/>
          <a:lstStyle/>
          <a:p>
            <a:r>
              <a:rPr lang="en-US" sz="40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tr-TR" sz="400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Metin Yer Tutucusu 34">
            <a:extLst>
              <a:ext uri="{FF2B5EF4-FFF2-40B4-BE49-F238E27FC236}">
                <a16:creationId xmlns:a16="http://schemas.microsoft.com/office/drawing/2014/main" id="{C34C1C9A-C258-AE46-AD2E-E7CE68A6F9AE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>
          <a:xfrm>
            <a:off x="16129819" y="26038270"/>
            <a:ext cx="12978580" cy="1070724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Both cosine similarity approaches produced a proper recommendation list. However, </a:t>
            </a:r>
            <a:r>
              <a:rPr lang="en-US" dirty="0" err="1"/>
              <a:t>CountVectorizer</a:t>
            </a:r>
            <a:r>
              <a:rPr lang="en-US" dirty="0"/>
              <a:t> offered books that are not as much related as the </a:t>
            </a:r>
            <a:r>
              <a:rPr lang="en-US" dirty="0" err="1"/>
              <a:t>tf-idf</a:t>
            </a:r>
            <a:r>
              <a:rPr lang="en-US" dirty="0"/>
              <a:t> vectorizer.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Moreover, KNN based algorithms’ RMSE scores are very close and have the best RMSE scores. RMSE scores are between 0.83 and 0.86.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It should be noted that ratings are between 1 and 5. Hence, it is needed to decrease RMSE scores between 0.3 and 0.5 to get more accurate recommendations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Deep learning techniques , language processing and filtering techniques will help recommender systems to better capture the user’s needs and user’s satisfaction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Hybrid filtering composed of content-based and collaborative filtering will enable developers to reach people more in real life applications.</a:t>
            </a:r>
          </a:p>
          <a:p>
            <a:endParaRPr lang="tr-TR" dirty="0"/>
          </a:p>
        </p:txBody>
      </p:sp>
      <p:sp>
        <p:nvSpPr>
          <p:cNvPr id="36" name="Metin Yer Tutucusu 35">
            <a:extLst>
              <a:ext uri="{FF2B5EF4-FFF2-40B4-BE49-F238E27FC236}">
                <a16:creationId xmlns:a16="http://schemas.microsoft.com/office/drawing/2014/main" id="{0723A213-6E59-AF4C-A088-EFDD94D872C9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r>
              <a:rPr lang="en-US" dirty="0"/>
              <a:t>Dr. Mehmet KESKİNÖZ</a:t>
            </a:r>
            <a:endParaRPr lang="tr-TR" dirty="0"/>
          </a:p>
        </p:txBody>
      </p:sp>
      <p:pic>
        <p:nvPicPr>
          <p:cNvPr id="45" name="image17.png">
            <a:extLst>
              <a:ext uri="{FF2B5EF4-FFF2-40B4-BE49-F238E27FC236}">
                <a16:creationId xmlns:a16="http://schemas.microsoft.com/office/drawing/2014/main" id="{50C49B29-7129-4A33-8B5E-5D7805CBB67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240486" y="30740226"/>
            <a:ext cx="6466966" cy="3767906"/>
          </a:xfrm>
          <a:prstGeom prst="rect">
            <a:avLst/>
          </a:prstGeom>
          <a:ln/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C8B28C9-5755-418F-B0EB-68D3B8B58606}"/>
              </a:ext>
            </a:extLst>
          </p:cNvPr>
          <p:cNvSpPr txBox="1"/>
          <p:nvPr/>
        </p:nvSpPr>
        <p:spPr>
          <a:xfrm>
            <a:off x="636213" y="29769637"/>
            <a:ext cx="142142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Formula of TF-IDF                        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/>
              <a:t>(</a:t>
            </a:r>
            <a:r>
              <a:rPr lang="en-US" sz="3000" b="1" dirty="0" err="1"/>
              <a:t>Edpresso</a:t>
            </a:r>
            <a:r>
              <a:rPr lang="en-US" sz="3000" b="1" dirty="0"/>
              <a:t> Editor, 2020)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image5.png">
            <a:extLst>
              <a:ext uri="{FF2B5EF4-FFF2-40B4-BE49-F238E27FC236}">
                <a16:creationId xmlns:a16="http://schemas.microsoft.com/office/drawing/2014/main" id="{497137C4-6BE7-4C40-8ED4-0357D2CB93D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6129819" y="14902988"/>
            <a:ext cx="5550395" cy="3480402"/>
          </a:xfrm>
          <a:prstGeom prst="rect">
            <a:avLst/>
          </a:prstGeom>
          <a:ln/>
        </p:spPr>
      </p:pic>
      <p:pic>
        <p:nvPicPr>
          <p:cNvPr id="48" name="Resim 4" descr="saat içeren bir resim&#10;&#10;Açıklama otomatik olarak oluşturuldu">
            <a:extLst>
              <a:ext uri="{FF2B5EF4-FFF2-40B4-BE49-F238E27FC236}">
                <a16:creationId xmlns:a16="http://schemas.microsoft.com/office/drawing/2014/main" id="{A192E206-D1F7-4D2F-819A-00AE20D84E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4372" y="14902988"/>
            <a:ext cx="8067157" cy="3480402"/>
          </a:xfrm>
          <a:prstGeom prst="rect">
            <a:avLst/>
          </a:prstGeom>
        </p:spPr>
      </p:pic>
      <p:pic>
        <p:nvPicPr>
          <p:cNvPr id="49" name="Resim 14" descr="kuş içeren bir resim&#10;&#10;Açıklama otomatik olarak oluşturuldu">
            <a:extLst>
              <a:ext uri="{FF2B5EF4-FFF2-40B4-BE49-F238E27FC236}">
                <a16:creationId xmlns:a16="http://schemas.microsoft.com/office/drawing/2014/main" id="{9FA27811-A5E4-4C8C-BC0C-5AC36ED029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819" y="19683956"/>
            <a:ext cx="6492061" cy="429033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12FEDD8-7762-448B-9C8A-E45F9BDC8723}"/>
              </a:ext>
            </a:extLst>
          </p:cNvPr>
          <p:cNvSpPr txBox="1"/>
          <p:nvPr/>
        </p:nvSpPr>
        <p:spPr>
          <a:xfrm>
            <a:off x="16129819" y="14002106"/>
            <a:ext cx="13895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KNN Algorithms Results                           Matrix Factorization Example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B9111C-2BBA-4265-9CEC-573CC8D485B1}"/>
              </a:ext>
            </a:extLst>
          </p:cNvPr>
          <p:cNvSpPr txBox="1"/>
          <p:nvPr/>
        </p:nvSpPr>
        <p:spPr>
          <a:xfrm>
            <a:off x="1391524" y="22259790"/>
            <a:ext cx="129336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is made on a dataset called 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Goodbooks-10k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algorithms are applied in 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</a:t>
            </a:r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recommender system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are evaluated by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 error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similarity scores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2800" b="1" dirty="0"/>
          </a:p>
          <a:p>
            <a:pPr lvl="0">
              <a:lnSpc>
                <a:spcPct val="100000"/>
              </a:lnSpc>
            </a:pPr>
            <a:endParaRPr lang="en-US" sz="2800" b="1" dirty="0"/>
          </a:p>
          <a:p>
            <a:pPr lvl="0">
              <a:lnSpc>
                <a:spcPct val="100000"/>
              </a:lnSpc>
            </a:pPr>
            <a:endParaRPr lang="en-US" sz="2800" dirty="0"/>
          </a:p>
        </p:txBody>
      </p:sp>
      <p:pic>
        <p:nvPicPr>
          <p:cNvPr id="52" name="Picture 51" descr="A screenshot of a cell phone&#10;&#10;Description automatically generated">
            <a:extLst>
              <a:ext uri="{FF2B5EF4-FFF2-40B4-BE49-F238E27FC236}">
                <a16:creationId xmlns:a16="http://schemas.microsoft.com/office/drawing/2014/main" id="{A955CCEA-39EA-405E-9F65-7DDA2A14DED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80" b="36747"/>
          <a:stretch/>
        </p:blipFill>
        <p:spPr>
          <a:xfrm>
            <a:off x="1002098" y="38911496"/>
            <a:ext cx="12908414" cy="2834749"/>
          </a:xfrm>
          <a:prstGeom prst="rect">
            <a:avLst/>
          </a:prstGeom>
        </p:spPr>
      </p:pic>
      <p:pic>
        <p:nvPicPr>
          <p:cNvPr id="53" name="Resim 6">
            <a:extLst>
              <a:ext uri="{FF2B5EF4-FFF2-40B4-BE49-F238E27FC236}">
                <a16:creationId xmlns:a16="http://schemas.microsoft.com/office/drawing/2014/main" id="{A790E697-9731-4383-88E0-BEAEE0A19C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37" y="35941138"/>
            <a:ext cx="12908414" cy="212229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7F63680-46CE-4618-A5D2-145397798AA4}"/>
              </a:ext>
            </a:extLst>
          </p:cNvPr>
          <p:cNvSpPr txBox="1"/>
          <p:nvPr/>
        </p:nvSpPr>
        <p:spPr>
          <a:xfrm>
            <a:off x="1138837" y="35217106"/>
            <a:ext cx="128804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based recommendation with similarity scores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E048CF-32D3-4F39-9792-933BE22413A0}"/>
              </a:ext>
            </a:extLst>
          </p:cNvPr>
          <p:cNvSpPr txBox="1"/>
          <p:nvPr/>
        </p:nvSpPr>
        <p:spPr>
          <a:xfrm>
            <a:off x="1138837" y="38225856"/>
            <a:ext cx="129084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recommendation with similarity scores</a:t>
            </a:r>
          </a:p>
        </p:txBody>
      </p:sp>
      <p:pic>
        <p:nvPicPr>
          <p:cNvPr id="57" name="image9.png">
            <a:extLst>
              <a:ext uri="{FF2B5EF4-FFF2-40B4-BE49-F238E27FC236}">
                <a16:creationId xmlns:a16="http://schemas.microsoft.com/office/drawing/2014/main" id="{4A36F7B9-B1BA-42A8-BB23-48B27C311A63}"/>
              </a:ext>
            </a:extLst>
          </p:cNvPr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23165615" y="19693202"/>
            <a:ext cx="6492060" cy="4281088"/>
          </a:xfrm>
          <a:prstGeom prst="rect">
            <a:avLst/>
          </a:prstGeom>
          <a:ln/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55671E53-0299-4A87-A0D3-1B9BDD178591}"/>
              </a:ext>
            </a:extLst>
          </p:cNvPr>
          <p:cNvSpPr txBox="1"/>
          <p:nvPr/>
        </p:nvSpPr>
        <p:spPr>
          <a:xfrm>
            <a:off x="16209123" y="18856584"/>
            <a:ext cx="135670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KNN Recommendation                                      K-Means Clustering</a:t>
            </a:r>
          </a:p>
        </p:txBody>
      </p:sp>
      <p:pic>
        <p:nvPicPr>
          <p:cNvPr id="59" name="Resim 4" descr="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FC3EA1DF-86BC-49E3-87FB-1846EF5541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55" y="14456569"/>
            <a:ext cx="12605749" cy="655621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F744C42-4912-47A6-B4CC-9AA2D22CEFB0}"/>
              </a:ext>
            </a:extLst>
          </p:cNvPr>
          <p:cNvSpPr txBox="1"/>
          <p:nvPr/>
        </p:nvSpPr>
        <p:spPr>
          <a:xfrm>
            <a:off x="1699881" y="13455203"/>
            <a:ext cx="12605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5 lines of the Goodbooks-10k data with significant 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9282C55-72E5-479C-BB41-FF047D1FD5BE}"/>
                  </a:ext>
                </a:extLst>
              </p:cNvPr>
              <p:cNvSpPr/>
              <p:nvPr/>
            </p:nvSpPr>
            <p:spPr>
              <a:xfrm>
                <a:off x="1074840" y="30171683"/>
                <a:ext cx="6892752" cy="46213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</m:sub>
                      </m:sSub>
                      <m:r>
                        <a:rPr lang="en-US" sz="3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3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</m:sub>
                      </m:sSub>
                      <m:r>
                        <a:rPr lang="en-US" sz="3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sz="3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30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0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3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ⅆ</m:t>
                                  </m:r>
                                  <m:sSub>
                                    <m:sSubPr>
                                      <m:ctrlPr>
                                        <a:rPr lang="en-US" sz="3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3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30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number of occurrences of </a:t>
                </a:r>
                <a:r>
                  <a:rPr lang="en-US" sz="3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in j</a:t>
                </a:r>
                <a:endParaRPr lang="en-US" sz="30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r>
                      <a:rPr lang="en-US" sz="3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ⅆ</m:t>
                    </m:r>
                    <m:sSub>
                      <m:sSubPr>
                        <m:ctrlP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number of documents containing </a:t>
                </a:r>
                <a:r>
                  <a:rPr lang="en-US" sz="3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endParaRPr lang="en-US" sz="30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𝑡𝑜𝑡𝑎𝑙</m:t>
                    </m:r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𝑛𝑢𝑚𝑏𝑒𝑟</m:t>
                    </m:r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3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𝑑𝑜𝑐𝑢𝑚𝑒𝑛𝑡𝑠</m:t>
                    </m:r>
                  </m:oMath>
                </a14:m>
                <a:endParaRPr lang="en-US" sz="30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9282C55-72E5-479C-BB41-FF047D1FD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40" y="30171683"/>
                <a:ext cx="6892752" cy="4621393"/>
              </a:xfrm>
              <a:prstGeom prst="rect">
                <a:avLst/>
              </a:prstGeom>
              <a:blipFill>
                <a:blip r:embed="rId11"/>
                <a:stretch>
                  <a:fillRect r="-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796266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Presentations.com-100CMx140CM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429</TotalTime>
  <Words>534</Words>
  <Application>Microsoft Office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 Math</vt:lpstr>
      <vt:lpstr>Times New Roman</vt:lpstr>
      <vt:lpstr>Trebuchet MS</vt:lpstr>
      <vt:lpstr>Wingdings</vt:lpstr>
      <vt:lpstr>PosterPresentations.com-100CMx140CM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hakantatli</dc:creator>
  <cp:lastModifiedBy>ilker gul</cp:lastModifiedBy>
  <cp:revision>31</cp:revision>
  <cp:lastPrinted>2017-05-02T08:14:52Z</cp:lastPrinted>
  <dcterms:created xsi:type="dcterms:W3CDTF">2012-02-10T00:21:22Z</dcterms:created>
  <dcterms:modified xsi:type="dcterms:W3CDTF">2020-08-25T14:04:51Z</dcterms:modified>
</cp:coreProperties>
</file>